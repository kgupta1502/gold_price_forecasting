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8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1A2238"/>
                </a:solidFill>
                <a:latin typeface="Arial"/>
              </a:rPr>
              <a:t>AIC by Candidate Order (The lower.</a:t>
            </a:r>
            <a:r>
              <a:rPr lang="en-US" sz="1300" b="0" i="0" u="none" strike="noStrike" baseline="0" dirty="0">
                <a:solidFill>
                  <a:srgbClr val="1A2238"/>
                </a:solidFill>
                <a:latin typeface="Arial"/>
              </a:rPr>
              <a:t> The </a:t>
            </a:r>
            <a:r>
              <a:rPr lang="en-US" sz="1300" b="0" i="0" u="none" strike="noStrike" dirty="0">
                <a:solidFill>
                  <a:srgbClr val="1A2238"/>
                </a:solidFill>
                <a:latin typeface="Arial"/>
              </a:rPr>
              <a:t>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</c:v>
                </c:pt>
              </c:strCache>
            </c:strRef>
          </c:tx>
          <c:spPr>
            <a:solidFill>
              <a:srgbClr val="8C97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C97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2C-483C-9315-5C9967C67604}"/>
              </c:ext>
            </c:extLst>
          </c:dPt>
          <c:dPt>
            <c:idx val="1"/>
            <c:invertIfNegative val="0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2C-483C-9315-5C9967C67604}"/>
              </c:ext>
            </c:extLst>
          </c:dPt>
          <c:dPt>
            <c:idx val="2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2C-483C-9315-5C9967C67604}"/>
              </c:ext>
            </c:extLst>
          </c:dPt>
          <c:dPt>
            <c:idx val="3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2C-483C-9315-5C9967C67604}"/>
              </c:ext>
            </c:extLst>
          </c:dPt>
          <c:dPt>
            <c:idx val="4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2C-483C-9315-5C9967C67604}"/>
              </c:ext>
            </c:extLst>
          </c:dPt>
          <c:dPt>
            <c:idx val="5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2C-483C-9315-5C9967C67604}"/>
              </c:ext>
            </c:extLst>
          </c:dPt>
          <c:cat>
            <c:strRef>
              <c:f>Sheet1!$A$2:$A$7</c:f>
              <c:strCache>
                <c:ptCount val="6"/>
                <c:pt idx="0">
                  <c:v>(3,1,3)</c:v>
                </c:pt>
                <c:pt idx="1">
                  <c:v>(0,1,0)</c:v>
                </c:pt>
                <c:pt idx="2">
                  <c:v>(0,1,1)</c:v>
                </c:pt>
                <c:pt idx="3">
                  <c:v>(1,1,0)</c:v>
                </c:pt>
                <c:pt idx="4">
                  <c:v>(2,1,2)</c:v>
                </c:pt>
                <c:pt idx="5">
                  <c:v>(0,1,3)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18936.12</c:v>
                </c:pt>
                <c:pt idx="1">
                  <c:v>18936.79</c:v>
                </c:pt>
                <c:pt idx="2">
                  <c:v>18937.830000000002</c:v>
                </c:pt>
                <c:pt idx="3">
                  <c:v>18937.849999999999</c:v>
                </c:pt>
                <c:pt idx="4">
                  <c:v>18938.849999999999</c:v>
                </c:pt>
                <c:pt idx="5">
                  <c:v>18939.21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52C-483C-9315-5C9967C67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942"/>
          <c:min val="189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8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1A2238"/>
                </a:solidFill>
                <a:latin typeface="Arial"/>
              </a:rPr>
              <a:t>One-Step-Ahead MAPE (%) : virtually identical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B68-414F-A7BE-C4402E88E1CA}"/>
              </c:ext>
            </c:extLst>
          </c:dPt>
          <c:dPt>
            <c:idx val="1"/>
            <c:invertIfNegative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68-414F-A7BE-C4402E88E1CA}"/>
              </c:ext>
            </c:extLst>
          </c:dPt>
          <c:dPt>
            <c:idx val="2"/>
            <c:invertIfNegative val="0"/>
            <c:bubble3D val="0"/>
            <c:spPr>
              <a:solidFill>
                <a:srgbClr val="445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68-414F-A7BE-C4402E88E1CA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2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ARIMA(0,1,0)</c:v>
                </c:pt>
                <c:pt idx="1">
                  <c:v>RNN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1.0129999999999999</c:v>
                </c:pt>
                <c:pt idx="1">
                  <c:v>1.012</c:v>
                </c:pt>
                <c:pt idx="2">
                  <c:v>1.0069999999999999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68-414F-A7BE-C4402E88E1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38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[~10s] Greet the room, state the title: Gold Price Prediction using Box-Jenkins ARIMA, benchmarked against RNN and LSTM.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[~15s] Quick orientation: mention this deck is structured around the Box-Jenkins workflow, then the deep-learning benchmark. Skip reading every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[~25s] State the objective in one sentence, then point at the 4-step flow: this is the exact sequence we'll walk through. Mention RNN/LSTM benchmark is the second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[~30s] Mention the split was done BEFORE any EDA specifically to avoid data leakage — this is a methodology point worth stating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[~30s] Point at the rolling mean clearly drifting, not flat — that's the visual cue for non-stationarity, confirmed statistically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[~35s] Walk through both ADF results side by side — emphasize the p-value jump from 0.93 to ~0.0000 after one difference. d=1 is locked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[~55s] KEY SLIDE — sir wants this emphasized. Point at both plots: every bar inside the band. Explicitly name the lag-28/32 blips as expected false positives, not signal. State the visual candidate (0,1,0) before AIC/BIC.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[~65s] KEY SLIDE — sir explicitly wants this. Explain: AIC's 'winner' (3,1,3) only beats (0,1,0) by 0.67 AIC points (statistically meaningless, rule of thumb &lt;2) AND it failed to converge. BIC clearly prefers (0,1,0). This is the actual model-selection reasoning, not just 'lowest number wins'.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[~45s] This is the single most important contrast in the whole study. Same model, same data — horizon alone changes MAPE by 30x. Point at how the left plot's actual line breaks outside the CI band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[~25s] Quick architecture overview — don't over-dwell, the real story is in the results slides ahead. Mention briefly that returns (not raw price) are the input feature, foreshadowing the bug-fix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[~30s] Good rigor story for the professor — frame this as 'we caught our own mistake', not just a result. Explain extrapolation in one sentence, then the returns-based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[~35s] Acknowledge upfront that lines visually overlap — that itself is the finding, not a plotting issue. Zoomed view next slide makes the small differences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[~35s] Point at a specific turning point on screen and trace the one-day lag with your finger — this is the most visually persuasive evidence in the whole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[~40s] The punchline slide. Let the 50,000x number land before reading the table. This is the strongest single takeaway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[~55s] Close strong: restate the practical recommendation, name the one real limitation (GARCH for volatility),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[~10s] Thank the audience,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6.xml"/><Relationship Id="rId9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ln w="19050">
            <a:solidFill>
              <a:srgbClr val="D4AF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640080"/>
            <a:ext cx="4297680" cy="4297680"/>
          </a:xfrm>
          <a:prstGeom prst="ellipse">
            <a:avLst/>
          </a:prstGeom>
          <a:ln w="1905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BOX-JENKINS METHODOLOGY  •  ARIMA  •  RNN  •  LSTM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Price Prediction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Series Forecasting Study : Classical Statistics vs. Deep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5093208"/>
            <a:ext cx="0" cy="77724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5138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Krishna Gupta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ZDA23B011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>
            <a:hlinkClick r:id="rId3" action="ppaction://hlinksldjump"/>
          </p:cNvPr>
          <p:cNvSpPr/>
          <p:nvPr/>
        </p:nvSpPr>
        <p:spPr>
          <a:xfrm>
            <a:off x="1600200" y="1691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Statement &amp; Dataset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2359152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591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>
            <a:hlinkClick r:id="rId4" action="ppaction://hlinksldjump"/>
          </p:cNvPr>
          <p:cNvSpPr/>
          <p:nvPr/>
        </p:nvSpPr>
        <p:spPr>
          <a:xfrm>
            <a:off x="1600200" y="2359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Stationarity, Differencing &amp; ACF/PACF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3026664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2666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>
            <a:hlinkClick r:id="rId5" action="ppaction://hlinksldjump"/>
          </p:cNvPr>
          <p:cNvSpPr/>
          <p:nvPr/>
        </p:nvSpPr>
        <p:spPr>
          <a:xfrm>
            <a:off x="1600200" y="30266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:</a:t>
            </a:r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AIC </a:t>
            </a:r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 BIC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7240" y="3694176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941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1600200" y="36941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Forecast Results : Multi-Step vs One-Step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" y="4361688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6168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18" name="Text 16">
            <a:hlinkClick r:id="rId6" action="ppaction://hlinksldjump"/>
          </p:cNvPr>
          <p:cNvSpPr/>
          <p:nvPr/>
        </p:nvSpPr>
        <p:spPr>
          <a:xfrm>
            <a:off x="1600200" y="43616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u="sng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 Benchmark : RNN &amp; LSTM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0292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21" name="Text 19">
            <a:hlinkClick r:id="rId7" action="ppaction://hlinksldjump"/>
          </p:cNvPr>
          <p:cNvSpPr/>
          <p:nvPr/>
        </p:nvSpPr>
        <p:spPr>
          <a:xfrm>
            <a:off x="1600200" y="5029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 Comparison &amp; Conclusion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0120" y="569671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next-day closing price of gold (COMEX Gold Futures, GC=F) using historical daily price data.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classical Box-Jenkins methodology end-to-end: Identification → Estimation → Diagnostic Checking → Forecasting.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the statistical ARIMA model against deep learning sequence models : a vanilla RNN and an LSTM (PyTorch).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forecasting skill at two distinct horizons: a long multi-step forecast and a rolling one-step-ahead forecast — to test whether model complexity actually buys predictive power.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4709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939796" y="5180076"/>
            <a:ext cx="109728" cy="109728"/>
          </a:xfrm>
          <a:prstGeom prst="ellipse">
            <a:avLst/>
          </a:prstGeom>
          <a:solidFill>
            <a:srgbClr val="8C97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4709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5074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82996" y="5180076"/>
            <a:ext cx="109728" cy="109728"/>
          </a:xfrm>
          <a:prstGeom prst="ellipse">
            <a:avLst/>
          </a:prstGeom>
          <a:solidFill>
            <a:srgbClr val="8C97A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4709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5074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426196" y="5180076"/>
            <a:ext cx="109728" cy="109728"/>
          </a:xfrm>
          <a:prstGeom prst="ellipse">
            <a:avLst/>
          </a:prstGeom>
          <a:solidFill>
            <a:srgbClr val="8C97A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0" y="4709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2396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0" y="5074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Specifications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46120" y="1508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(via yfinance)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19293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GC=F : COMEX Gold Futures (USD/oz)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46120" y="23500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 Price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770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2770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2015-01-02  →  2026-06-24  (~11.5 years)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31912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3191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(trading days)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46120" y="36118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46120" y="40325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/ Test Split  (80 / 20 : performed BEFORE any EDA to prevent leakage)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6803136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0336" y="4937760"/>
            <a:ext cx="1700784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937760"/>
            <a:ext cx="6528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2,307 obs  (2015-01-02 → 2024-03-07)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60336" y="493776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 obs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55504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window: 2024-03-08 → 2026-06-24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81160" y="15087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81160" y="167335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2,884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418320" y="2359152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Daily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81160" y="30175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81160" y="3182112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418320" y="3867912"/>
            <a:ext cx="2148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(Train Only)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7" name="Image 0" descr="images/01_raw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417320"/>
            <a:ext cx="5596128" cy="2331720"/>
          </a:xfrm>
          <a:prstGeom prst="rect">
            <a:avLst/>
          </a:prstGeom>
        </p:spPr>
      </p:pic>
      <p:pic>
        <p:nvPicPr>
          <p:cNvPr id="8" name="Image 1" descr="images/02_rolling_mean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931920"/>
            <a:ext cx="5596128" cy="2331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1887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 : Raw Series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Mean &amp; Std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26680" y="1417320"/>
            <a:ext cx="3977640" cy="484632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01000" y="1645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SUMMARY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01000" y="20574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01000" y="2295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$1,892.71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001000" y="26426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01000" y="2880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877.60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001000" y="3227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001000" y="346557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$1,050.80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001000" y="38130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01000" y="40507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$1,729.45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001000" y="43982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01000" y="46360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$2,158.00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001000" y="50566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price distribution and a steadily rising rolling mean both point to a non-stationary, trending series.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: STEP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Stationarity Testing &amp; Differencing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DIFFERENCING (Raw)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C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ADF p-value = 0.9336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statistic: −0.24   (vs. 5% critical value −2.86)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1st DIFFERENCING (d = 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ADF p-value ≈ 0.0000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580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statistic: −19.77   (well past 1% critical value −3.43)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 :  d = 1 is sufficient</a:t>
            </a:r>
            <a:endParaRPr lang="en-US" sz="1400" dirty="0"/>
          </a:p>
        </p:txBody>
      </p:sp>
      <p:pic>
        <p:nvPicPr>
          <p:cNvPr id="17" name="Image 0" descr="images/04_differenced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486025"/>
            <a:ext cx="6720840" cy="28003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99632" y="5276215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Differenced Close Price : oscillates around zero, no visible trend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: STEP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ACF &amp; PACF Analysis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7" name="Image 0" descr="images/05_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4937760" cy="2468880"/>
          </a:xfrm>
          <a:prstGeom prst="rect">
            <a:avLst/>
          </a:prstGeom>
        </p:spPr>
      </p:pic>
      <p:pic>
        <p:nvPicPr>
          <p:cNvPr id="8" name="Image 1" descr="images/06_p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4937760" cy="2468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399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: Differenced Series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17920" y="1399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PACF : Differenced Series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434340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77240" y="482803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lag beyond 0 crosses the 95% confidence band in either plot : both resemble pure white noise.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minor blips at lags 28 &amp; 32 are expected false positives.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read: p = 0, q = 0  →  candidate model ARIMA(0,1,0), confirmed next via AIC/BIC grid search.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: AIC vs BIC Grid Search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12064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i="1" dirty="0">
                          <a:solidFill>
                            <a:srgbClr val="8C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(3,1,3)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8C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18936.12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8C9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18976.33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C7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(0,1,0) 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C7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18936.79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C7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18942.54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(0,1,1)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18937.83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18949.32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18937.85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18949.34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(2,1,2)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18938.85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18967.57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94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6"/>
          <p:cNvSpPr/>
          <p:nvPr/>
        </p:nvSpPr>
        <p:spPr>
          <a:xfrm>
            <a:off x="457200" y="4343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Both AIC and BIC are penalized likelihood criteria. </a:t>
            </a:r>
          </a:p>
          <a:p>
            <a:pPr marL="0" indent="0">
              <a:buNone/>
            </a:pPr>
            <a:r>
              <a:rPr lang="en-US" sz="1200" dirty="0"/>
              <a:t>AIC :  penalizes the extra parameter used </a:t>
            </a:r>
          </a:p>
          <a:p>
            <a:pPr marL="0" indent="0">
              <a:buNone/>
            </a:pPr>
            <a:r>
              <a:rPr lang="en-US" sz="1200" dirty="0"/>
              <a:t>	2k-2ln(L)     k : no. of parameters ; 2k is the penalty</a:t>
            </a:r>
          </a:p>
          <a:p>
            <a:pPr marL="0" indent="0">
              <a:buNone/>
            </a:pPr>
            <a:r>
              <a:rPr lang="en-US" sz="1200" dirty="0"/>
              <a:t>	                     L : Likelihood             </a:t>
            </a:r>
          </a:p>
          <a:p>
            <a:endParaRPr lang="en-US" sz="1200" dirty="0"/>
          </a:p>
          <a:p>
            <a:r>
              <a:rPr lang="en-US" sz="1200" dirty="0"/>
              <a:t>BIC :  penalizes the no. of observations( greater the sample size, more BIC penalty) 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k.ln</a:t>
            </a:r>
            <a:r>
              <a:rPr lang="en-US" sz="1200" dirty="0"/>
              <a:t>(n)-2ln(L)     k : no. of parameters ; </a:t>
            </a:r>
            <a:r>
              <a:rPr lang="en-US" sz="1200" dirty="0" err="1"/>
              <a:t>k.ln</a:t>
            </a:r>
            <a:r>
              <a:rPr lang="en-US" sz="1200" dirty="0"/>
              <a:t>(n) is the penalty</a:t>
            </a:r>
          </a:p>
          <a:p>
            <a:r>
              <a:rPr lang="en-US" sz="1200" dirty="0"/>
              <a:t>	                            L : Likelihood </a:t>
            </a:r>
          </a:p>
          <a:p>
            <a:r>
              <a:rPr lang="en-US" sz="1200" dirty="0"/>
              <a:t>		  n: no of observations.            </a:t>
            </a:r>
          </a:p>
          <a:p>
            <a:pPr marL="0" indent="0">
              <a:buNone/>
            </a:pPr>
            <a:endParaRPr lang="en-US" sz="1200" b="1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428153414"/>
              </p:ext>
            </p:extLst>
          </p:nvPr>
        </p:nvGraphicFramePr>
        <p:xfrm>
          <a:off x="5897880" y="1371600"/>
          <a:ext cx="58064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5897880" y="480060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126480" y="4937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ARIMA(0,1,0)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126480" y="53218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Gold's daily Close behaves as a random walk : no exploitable autocorrelation in the first difference.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Horizon Matters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14246"/>
            <a:ext cx="54864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C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108606"/>
            <a:ext cx="52120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Forecast MAPE  (577-day horizon, single anchor)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514246"/>
            <a:ext cx="54864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108606"/>
            <a:ext cx="52120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One-Step-Ahead MAPE  (re-anchored daily on actuals)</a:t>
            </a:r>
            <a:endParaRPr lang="en-US" sz="1150" dirty="0"/>
          </a:p>
        </p:txBody>
      </p:sp>
      <p:pic>
        <p:nvPicPr>
          <p:cNvPr id="13" name="Image 0" descr="images/08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68980"/>
            <a:ext cx="5486400" cy="2286000"/>
          </a:xfrm>
          <a:prstGeom prst="rect">
            <a:avLst/>
          </a:prstGeom>
        </p:spPr>
      </p:pic>
      <p:pic>
        <p:nvPicPr>
          <p:cNvPr id="14" name="Image 1" descr="images/10_rolling_one_step_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268980"/>
            <a:ext cx="5486400" cy="2286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60533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random-walk forecast can't anticipate a sustained 2-year rally : actuals breach the 95% CI entirely.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217920" y="60533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Re-anchoring daily on the real previous close tracks the actual path almost perfectly.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BENCHMARK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&amp; LSTM : Architecture &amp; Setup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5328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stacked layers  •  64 hidden units  •  dropout 0.2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28712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1181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daily return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334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12,673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FBF1D6"/>
          </a:solidFill>
          <a:ln w="12700">
            <a:solidFill>
              <a:srgbClr val="FBF1D6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22860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25328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stacked layers  •  64 hidden units  •  dropout 0.2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29400" y="28712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31181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29400" y="34564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3703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daily return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29400" y="40965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4334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50,497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Training Setup:  PyTorch  •  Adam optimizer (lr = 0.001)  •  MSE loss  •  50 epochs  •  Batch size 32  •  Evaluated one-step-ahead only, for a fair comparison against ARIMA's best case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57150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715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 Window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(scaled return)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57150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5715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layers, 64 units)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57150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5715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Return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23960" y="571500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5715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RIGOR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 Caught : Scaler Extrapolation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ATTEMPT : Raw Price Scaling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C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RNN: 14.98%      LSTM: 13.70%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— far worse than ARIMA's 1.01%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 err="1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(normalizes values to range[0,1], fit on train prices)</a:t>
            </a: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 ≈ $2,158) On training set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Test-period gold rose as high as $5,318, far outside the scaler's training range.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test inputs reached up to 3.85 (should be ≤ 1.0).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cannot extrapolate reliably beyond the input range they trained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: Return-Based Modeling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RNN: 1.01%      LSTM: 1.01%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— now on par with ARIMA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% daily returns instead of raw price level.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stay bounded (≈ ±5–11%) regardless of how high the absolute price climbs.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 : no extrapolation problem, ever.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ARIMA already used via first-differencing.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 LSTM : Actual vs Predicted (One-Step)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pic>
        <p:nvPicPr>
          <p:cNvPr id="7" name="Image 0" descr="images/14_rnn_lstm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17320"/>
            <a:ext cx="10753344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8978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and LSTM predictions overlap almost perfectly with the actual price : and with each other, across the full test period.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 LSTM : Zoomed View (Last 60 Days)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pic>
        <p:nvPicPr>
          <p:cNvPr id="7" name="Image 0" descr="images/15_rnn_lstm_zoo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17320"/>
            <a:ext cx="10753344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8978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nearly every turning point, predictions lag the actual by one day : both models can only react to a move the day after it happens, never anticipate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 vs RNN vs LSTM : Head to Head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60335809"/>
              </p:ext>
            </p:extLst>
          </p:nvPr>
        </p:nvGraphicFramePr>
        <p:xfrm>
          <a:off x="457200" y="1371600"/>
          <a:ext cx="5577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557784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C7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ARIMA(0,1,0)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C7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C7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720840" y="1783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50,000×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672084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trainable parameters in LSTM than ARIMA :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20840" y="3108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statistically identical accuracy.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20840" y="3749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— classical or deep learning — extracted exploitable signal beyond “tomorrow ≈ today.” This is strong, convergent evidence consistent with the weak-form Efficient Market Hypothesis for daily gold prices.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46304" cy="14630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Insights, Limitations &amp; Conclusion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Prediction  |  Box-Jenkins &amp; Deep Learning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C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Gold's daily Close behaves as a random walk : Box-Jenkins correctly identified ARIMA(0,1,0).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 is decisive: 1.01% MAPE one-step-ahead vs. 31.30% over a 577-day multi-step horizon.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and LSTM tie with ARIMA despite up to 50,000× more parameters : no extra signal to extract from price history alone.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798064"/>
            <a:ext cx="5303520" cy="3310128"/>
          </a:xfrm>
          <a:prstGeom prst="roundRect">
            <a:avLst>
              <a:gd name="adj" fmla="val 2000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35143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Gen-Win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0" y="4099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one-step-ahead daily gold forecasting, ARIMA(0,1,0) is the practical choice  equal accuracy, full interpretability, no training cost, no GPU required.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0" y="4251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ln w="190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2743200"/>
            <a:ext cx="5029200" cy="5029200"/>
          </a:xfrm>
          <a:prstGeom prst="ellipse">
            <a:avLst/>
          </a:prstGeom>
          <a:ln w="19050">
            <a:solidFill>
              <a:srgbClr val="D4AF3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Gupta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1908</Words>
  <Application>Microsoft Office PowerPoint</Application>
  <PresentationFormat>Widescreen</PresentationFormat>
  <Paragraphs>290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Price Prediction — Box-Jenkins &amp; Deep Learning</dc:title>
  <dc:subject>PptxGenJS Presentation</dc:subject>
  <dc:creator>Krishna Gupta</dc:creator>
  <cp:lastModifiedBy>Krishna Gupta</cp:lastModifiedBy>
  <cp:revision>10</cp:revision>
  <dcterms:created xsi:type="dcterms:W3CDTF">2026-06-24T23:24:28Z</dcterms:created>
  <dcterms:modified xsi:type="dcterms:W3CDTF">2026-06-25T13:47:02Z</dcterms:modified>
</cp:coreProperties>
</file>